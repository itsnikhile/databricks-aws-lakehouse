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914400"/>
            <a:ext cx="8686800" cy="1097280"/>
          </a:xfrm>
          <a:prstGeom prst="rect">
            <a:avLst/>
          </a:prstGeom>
          <a:solidFill>
            <a:srgbClr val="161B27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1440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+ AWS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Lakehouse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Reference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0" y="3291840"/>
            <a:ext cx="5760720" cy="2743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3520440"/>
            <a:ext cx="1920240" cy="347472"/>
          </a:xfrm>
          <a:prstGeom prst="rect">
            <a:avLst/>
          </a:prstGeom>
          <a:solidFill>
            <a:srgbClr val="1C2333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5204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Design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0" y="3520440"/>
            <a:ext cx="1920240" cy="347472"/>
          </a:xfrm>
          <a:prstGeom prst="rect">
            <a:avLst/>
          </a:prstGeom>
          <a:solidFill>
            <a:srgbClr val="1C2333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35204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20640" y="3520440"/>
            <a:ext cx="1920240" cy="347472"/>
          </a:xfrm>
          <a:prstGeom prst="rect">
            <a:avLst/>
          </a:prstGeom>
          <a:solidFill>
            <a:srgbClr val="1C2333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35204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0" y="3520440"/>
            <a:ext cx="1920240" cy="347472"/>
          </a:xfrm>
          <a:prstGeom prst="rect">
            <a:avLst/>
          </a:prstGeom>
          <a:solidFill>
            <a:srgbClr val="1C2333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35204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509760" y="3520440"/>
            <a:ext cx="1920240" cy="347472"/>
          </a:xfrm>
          <a:prstGeom prst="rect">
            <a:avLst/>
          </a:prstGeom>
          <a:solidFill>
            <a:srgbClr val="1C2333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0" y="35204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Native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· Multi-Layer · ACID Compliant · Governed · Cost-Optimized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61B27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REFERENCE DOCUMENT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32004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60120"/>
            <a:ext cx="3566160" cy="2468880"/>
          </a:xfrm>
          <a:prstGeom prst="rect">
            <a:avLst/>
          </a:prstGeom>
          <a:solidFill>
            <a:srgbClr val="161B27"/>
          </a:solidFill>
          <a:ln w="1524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3566160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Unified Analytics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platform for batch ETL, real-time streaming, SQL analytics, and ML/AI workloads — eliminating data silos and redundant infrastructure.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06240" y="960120"/>
            <a:ext cx="3566160" cy="2468880"/>
          </a:xfrm>
          <a:prstGeom prst="rect">
            <a:avLst/>
          </a:prstGeom>
          <a:solidFill>
            <a:srgbClr val="161B27"/>
          </a:solidFill>
          <a:ln w="1524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06240" y="960120"/>
            <a:ext cx="356616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0" y="9601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AWS-Native Integration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43400" y="150876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integration with S3, Kinesis, Redshift, Glue, IAM, KMS, and SageMaker. Leverage existing AWS investments while gaining Databricks power.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960120"/>
            <a:ext cx="3566160" cy="2468880"/>
          </a:xfrm>
          <a:prstGeom prst="rect">
            <a:avLst/>
          </a:prstGeom>
          <a:solidFill>
            <a:srgbClr val="161B27"/>
          </a:solidFill>
          <a:ln w="1524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960120"/>
            <a:ext cx="3566160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0" y="9601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Enterprise Governance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83880" y="150876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provides unified data access control, lineage tracking, and audit across all data assets — tables, files, models, and functions.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611880"/>
            <a:ext cx="2560320" cy="1005840"/>
          </a:xfrm>
          <a:prstGeom prst="rect">
            <a:avLst/>
          </a:prstGeom>
          <a:solidFill>
            <a:srgbClr val="1C2333"/>
          </a:solidFill>
          <a:ln w="1016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61188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365760" y="41788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Layers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3611880"/>
            <a:ext cx="2560320" cy="1005840"/>
          </a:xfrm>
          <a:prstGeom prst="rect">
            <a:avLst/>
          </a:prstGeom>
          <a:solidFill>
            <a:srgbClr val="1C2333"/>
          </a:solidFill>
          <a:ln w="1016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361188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3200400" y="41788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Zones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5040" y="3611880"/>
            <a:ext cx="2560320" cy="1005840"/>
          </a:xfrm>
          <a:prstGeom prst="rect">
            <a:avLst/>
          </a:prstGeom>
          <a:solidFill>
            <a:srgbClr val="1C2333"/>
          </a:solidFill>
          <a:ln w="1016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361188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035040" y="41788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869680" y="3611880"/>
            <a:ext cx="2560320" cy="1005840"/>
          </a:xfrm>
          <a:prstGeom prst="rect">
            <a:avLst/>
          </a:prstGeom>
          <a:solidFill>
            <a:srgbClr val="1C2333"/>
          </a:solidFill>
          <a:ln w="10160">
            <a:solidFill>
              <a:srgbClr val="FF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9680" y="361188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8869680" y="41788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Speedup (Photon)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75488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fault-tolerance, scalability, and cost efficiency on AWS infrastructure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61B27"/>
          </a:solidFill>
          <a:ln/>
        </p:spPr>
      </p:sp>
      <p:sp>
        <p:nvSpPr>
          <p:cNvPr id="31" name="Text 29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+ AWS Data Lakehouse · Architecture Reference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 — Bronze → Silver → Gold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4572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14400"/>
            <a:ext cx="11612880" cy="3657600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474720" cy="3520440"/>
          </a:xfrm>
          <a:prstGeom prst="rect">
            <a:avLst/>
          </a:prstGeom>
          <a:solidFill>
            <a:srgbClr val="161B27"/>
          </a:solidFill>
          <a:ln w="25400">
            <a:solidFill>
              <a:srgbClr val="CD7F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60120"/>
            <a:ext cx="3474720" cy="475488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6012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 BRONZE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4813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D7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/ Landing Zone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874520"/>
            <a:ext cx="320040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Append-only, immutable raw data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Ingested via Auto Loader / Kinesis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+ JSON multi-format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Partitioned by ingest_date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Schema-on-read approach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historical preservation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931920" y="2542032"/>
            <a:ext cx="82296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97680" y="960120"/>
            <a:ext cx="3474720" cy="3520440"/>
          </a:xfrm>
          <a:prstGeom prst="rect">
            <a:avLst/>
          </a:prstGeom>
          <a:solidFill>
            <a:srgbClr val="161B27"/>
          </a:solidFill>
          <a:ln w="25400">
            <a:solidFill>
              <a:srgbClr val="C0C0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97680" y="960120"/>
            <a:ext cx="3474720" cy="475488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96012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SILVER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97680" y="14813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/ Conformed Zone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34840" y="1874520"/>
            <a:ext cx="320040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&amp; null handling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enforcement &amp; casting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upserts (SCD Type 2)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tokenization / masking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ACID transactions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expectations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72400" y="2542032"/>
            <a:ext cx="82296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827532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960120"/>
            <a:ext cx="3474720" cy="3520440"/>
          </a:xfrm>
          <a:prstGeom prst="rect">
            <a:avLst/>
          </a:prstGeom>
          <a:solidFill>
            <a:srgbClr val="161B27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38160" y="960120"/>
            <a:ext cx="3474720" cy="47548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0" y="96012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GOLD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38160" y="14813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/ Curated Zone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75320" y="1874520"/>
            <a:ext cx="320040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&amp; snowflake schemas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business KPIs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 datasets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ML-ready feature tables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Z-Order for fast BI queries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across all consumers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709160"/>
            <a:ext cx="11612880" cy="502920"/>
          </a:xfrm>
          <a:prstGeom prst="rect">
            <a:avLst/>
          </a:prstGeom>
          <a:solidFill>
            <a:srgbClr val="161B27"/>
          </a:solidFill>
          <a:ln w="10160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70916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by: Delta Lake (ACID) · Apache Spark · Databricks Auto Loader · DLT Expectations · S3 Intelligent-Tiering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61B27"/>
          </a:solidFill>
          <a:ln/>
        </p:spPr>
      </p:sp>
      <p:sp>
        <p:nvSpPr>
          <p:cNvPr id="28" name="Text 2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+ AWS Data Lakehouse · Architecture Reference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Services Integration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29260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3657600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3657600" cy="987552"/>
          </a:xfrm>
          <a:prstGeom prst="rect">
            <a:avLst/>
          </a:prstGeom>
          <a:solidFill>
            <a:srgbClr val="161B27"/>
          </a:solidFill>
          <a:ln w="762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1353312"/>
            <a:ext cx="3438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645920"/>
            <a:ext cx="3438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 lake storage. Intelligent-Tiering, Lifecycle Policies, Replication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359152"/>
            <a:ext cx="3657600" cy="987552"/>
          </a:xfrm>
          <a:prstGeom prst="rect">
            <a:avLst/>
          </a:prstGeom>
          <a:solidFill>
            <a:srgbClr val="161B27"/>
          </a:solidFill>
          <a:ln w="762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" y="2414016"/>
            <a:ext cx="3438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Glue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706624"/>
            <a:ext cx="3438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catalog + ETL. Crawler for schema discovery. Works with Databricks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0" y="914400"/>
            <a:ext cx="3657600" cy="3474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9144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97680" y="1298448"/>
            <a:ext cx="3657600" cy="987552"/>
          </a:xfrm>
          <a:prstGeom prst="rect">
            <a:avLst/>
          </a:prstGeom>
          <a:solidFill>
            <a:srgbClr val="161B27"/>
          </a:solidFill>
          <a:ln w="762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07408" y="1353312"/>
            <a:ext cx="3438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Kinesis Data Streams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07408" y="1645920"/>
            <a:ext cx="3438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event ingestion at scale. Direct Spark Streaming integration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97680" y="2359152"/>
            <a:ext cx="3657600" cy="987552"/>
          </a:xfrm>
          <a:prstGeom prst="rect">
            <a:avLst/>
          </a:prstGeom>
          <a:solidFill>
            <a:srgbClr val="161B27"/>
          </a:solidFill>
          <a:ln w="762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407408" y="2414016"/>
            <a:ext cx="3438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MSK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07408" y="2706624"/>
            <a:ext cx="3438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Kafka. Databricks reads Kafka topics natively via Structured Streaming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0" y="914400"/>
            <a:ext cx="3657600" cy="3474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9144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0" y="1298448"/>
            <a:ext cx="3657600" cy="987552"/>
          </a:xfrm>
          <a:prstGeom prst="rect">
            <a:avLst/>
          </a:prstGeom>
          <a:solidFill>
            <a:srgbClr val="161B27"/>
          </a:solidFill>
          <a:ln w="762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339328" y="1353312"/>
            <a:ext cx="3438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 / Aurora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39328" y="1645920"/>
            <a:ext cx="3438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OLTP databases. Change data capture (CDC) via AWS DMS → Delta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9600" y="2359152"/>
            <a:ext cx="3657600" cy="987552"/>
          </a:xfrm>
          <a:prstGeom prst="rect">
            <a:avLst/>
          </a:prstGeom>
          <a:solidFill>
            <a:srgbClr val="161B27"/>
          </a:solidFill>
          <a:ln w="762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339328" y="2414016"/>
            <a:ext cx="3438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39328" y="2706624"/>
            <a:ext cx="3438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source. Exported to S3 for Delta Lake ingestion via DMS or Lambda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566160"/>
            <a:ext cx="3657600" cy="34747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35661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950208"/>
            <a:ext cx="3657600" cy="987552"/>
          </a:xfrm>
          <a:prstGeom prst="rect">
            <a:avLst/>
          </a:prstGeom>
          <a:solidFill>
            <a:srgbClr val="161B27"/>
          </a:solidFill>
          <a:ln w="762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5488" y="4005072"/>
            <a:ext cx="3438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 + KMS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" y="4297680"/>
            <a:ext cx="3438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access policies. CMK encryption for all S3 data and secrets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5010912"/>
            <a:ext cx="3657600" cy="987552"/>
          </a:xfrm>
          <a:prstGeom prst="rect">
            <a:avLst/>
          </a:prstGeom>
          <a:solidFill>
            <a:srgbClr val="161B27"/>
          </a:solidFill>
          <a:ln w="762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5488" y="5065776"/>
            <a:ext cx="3438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Secrets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5488" y="5358384"/>
            <a:ext cx="3438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stored securely. Integrated with Databricks Secret Scopes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297680" y="3566160"/>
            <a:ext cx="3657600" cy="34747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8" name="Text 36"/>
          <p:cNvSpPr/>
          <p:nvPr/>
        </p:nvSpPr>
        <p:spPr>
          <a:xfrm>
            <a:off x="4297680" y="35661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297680" y="3950208"/>
            <a:ext cx="3657600" cy="987552"/>
          </a:xfrm>
          <a:prstGeom prst="rect">
            <a:avLst/>
          </a:prstGeom>
          <a:solidFill>
            <a:srgbClr val="161B27"/>
          </a:solidFill>
          <a:ln w="762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407408" y="4005072"/>
            <a:ext cx="3438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Redshift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407408" y="4297680"/>
            <a:ext cx="3438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Spectrum queries on S3/Delta. Data sharing to BI teams. Row-level security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297680" y="5010912"/>
            <a:ext cx="3657600" cy="987552"/>
          </a:xfrm>
          <a:prstGeom prst="rect">
            <a:avLst/>
          </a:prstGeom>
          <a:solidFill>
            <a:srgbClr val="161B27"/>
          </a:solidFill>
          <a:ln w="762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407408" y="5065776"/>
            <a:ext cx="3438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Athena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407408" y="5358384"/>
            <a:ext cx="3438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SQL on Delta Lake tables. No cluster management needed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229600" y="3566160"/>
            <a:ext cx="3657600" cy="347472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46" name="Text 44"/>
          <p:cNvSpPr/>
          <p:nvPr/>
        </p:nvSpPr>
        <p:spPr>
          <a:xfrm>
            <a:off x="8229600" y="35661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AI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229600" y="3950208"/>
            <a:ext cx="3657600" cy="987552"/>
          </a:xfrm>
          <a:prstGeom prst="rect">
            <a:avLst/>
          </a:prstGeom>
          <a:solidFill>
            <a:srgbClr val="161B27"/>
          </a:solidFill>
          <a:ln w="762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339328" y="4005072"/>
            <a:ext cx="3438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SageMaker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339328" y="4297680"/>
            <a:ext cx="3438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MLflow models to SageMaker endpoints. Bi-directional integration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229600" y="5010912"/>
            <a:ext cx="3657600" cy="987552"/>
          </a:xfrm>
          <a:prstGeom prst="rect">
            <a:avLst/>
          </a:prstGeom>
          <a:solidFill>
            <a:srgbClr val="161B27"/>
          </a:solidFill>
          <a:ln w="762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8339328" y="5065776"/>
            <a:ext cx="3438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Step Functions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339328" y="5358384"/>
            <a:ext cx="3438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 multi-step ML pipelines alongside Databricks Workflows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61B27"/>
          </a:solidFill>
          <a:ln/>
        </p:spPr>
      </p:sp>
      <p:sp>
        <p:nvSpPr>
          <p:cNvPr id="54" name="Text 5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+ AWS Data Lakehouse · Architecture Reference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Platform Capabilities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347472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5394960" cy="2103120"/>
          </a:xfrm>
          <a:prstGeom prst="rect">
            <a:avLst/>
          </a:prstGeom>
          <a:solidFill>
            <a:srgbClr val="161B27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5394960" cy="40233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14400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" y="1371600"/>
            <a:ext cx="5138928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transactions on S3-based data lake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enforcement and schema evolution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travel — query historical data versions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Z-order and data skipping for fast queries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Auto-compaction and optimize commands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914400"/>
            <a:ext cx="5577840" cy="2103120"/>
          </a:xfrm>
          <a:prstGeom prst="rect">
            <a:avLst/>
          </a:prstGeom>
          <a:solidFill>
            <a:srgbClr val="161B27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914400"/>
            <a:ext cx="5577840" cy="40233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914400"/>
            <a:ext cx="5577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Live Tables (DLT)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45936" y="1371600"/>
            <a:ext cx="5321808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pipeline definitions (Python/SQL)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data quality expectations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 and auto-recovery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and incremental processing modes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lineage visualization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154680"/>
            <a:ext cx="3474720" cy="1920240"/>
          </a:xfrm>
          <a:prstGeom prst="rect">
            <a:avLst/>
          </a:prstGeom>
          <a:solidFill>
            <a:srgbClr val="161B27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154680"/>
            <a:ext cx="3474720" cy="40233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154680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&amp; AutoML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" y="3611880"/>
            <a:ext cx="3218688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 and comparison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 with staging/production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 for baseline model generation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 REST endpoints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 with point-in-time joins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97680" y="3154680"/>
            <a:ext cx="3474720" cy="1920240"/>
          </a:xfrm>
          <a:prstGeom prst="rect">
            <a:avLst/>
          </a:prstGeom>
          <a:solidFill>
            <a:srgbClr val="161B27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97680" y="3154680"/>
            <a:ext cx="3474720" cy="40233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0" y="3154680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25696" y="3611880"/>
            <a:ext cx="3218688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3-level namespace: catalog.schema.table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and column-level security policies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data lineage tracking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Cross-workspace data sharing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 for compliance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229600" y="3154680"/>
            <a:ext cx="3566160" cy="1920240"/>
          </a:xfrm>
          <a:prstGeom prst="rect">
            <a:avLst/>
          </a:prstGeom>
          <a:solidFill>
            <a:srgbClr val="161B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0" y="3154680"/>
            <a:ext cx="3566160" cy="4023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0" y="315468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Workflows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57616" y="3611880"/>
            <a:ext cx="3310128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DAG-based job orchestration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and retry failed tasks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MWAA (Airflow)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job runs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and alerting hooks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61B27"/>
          </a:solidFill>
          <a:ln/>
        </p:spPr>
      </p:sp>
      <p:sp>
        <p:nvSpPr>
          <p:cNvPr id="26" name="Text 2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+ AWS Data Lakehouse · Architecture Reference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Governance &amp; Compliance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384048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5486400" cy="1143000"/>
          </a:xfrm>
          <a:prstGeom prst="rect">
            <a:avLst/>
          </a:prstGeom>
          <a:solidFill>
            <a:srgbClr val="161B27"/>
          </a:solidFill>
          <a:ln w="1524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128016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96012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Layer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261872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deployed in customer VPC. Private subnets with NAT Gateway. VPC endpoints for S3, KMS, and STS. PrivateLink for workspace connectivity.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5486400" cy="1143000"/>
          </a:xfrm>
          <a:prstGeom prst="rect">
            <a:avLst/>
          </a:prstGeom>
          <a:solidFill>
            <a:srgbClr val="161B27"/>
          </a:solidFill>
          <a:ln w="1524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194560"/>
            <a:ext cx="128016" cy="1143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24028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542032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 + Instance Profiles for S3 access. Unity Catalog RBAC. AWS SSO / Okta SCIM provisioning. OAuth 2.0 service principals for CI/CD.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474720"/>
            <a:ext cx="5486400" cy="1143000"/>
          </a:xfrm>
          <a:prstGeom prst="rect">
            <a:avLst/>
          </a:prstGeom>
          <a:solidFill>
            <a:srgbClr val="161B27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474720"/>
            <a:ext cx="128016" cy="1143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52044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Encryption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822192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SSE-KMS encryption on all S3 buckets using Customer Managed Keys (CMK). KMS key rotation. Databricks workspace encryption at rest and in transit.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4754880"/>
            <a:ext cx="5486400" cy="1143000"/>
          </a:xfrm>
          <a:prstGeom prst="rect">
            <a:avLst/>
          </a:prstGeom>
          <a:solidFill>
            <a:srgbClr val="161B27"/>
          </a:solidFill>
          <a:ln w="1524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4754880"/>
            <a:ext cx="128016" cy="1143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480060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5102352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Secrets Manager for DB credentials and API keys. Databricks Secret Scopes backed by AWS Secrets Manager. Automatic rotation policies.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09360" y="914400"/>
            <a:ext cx="5440680" cy="5212080"/>
          </a:xfrm>
          <a:prstGeom prst="rect">
            <a:avLst/>
          </a:prstGeom>
          <a:solidFill>
            <a:srgbClr val="161B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09360" y="914400"/>
            <a:ext cx="5440680" cy="4389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914400"/>
            <a:ext cx="5440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Compliance Framework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92240" y="14447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92240" y="173736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access control at row/column level. Attribute-based access control (ABAC) policies.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0" y="2212848"/>
            <a:ext cx="5120640" cy="9144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23591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265176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Databricks operations logged. CloudTrail + Databricks system tables → Athena for querying.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0" y="3127248"/>
            <a:ext cx="5120640" cy="9144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32735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Lineage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92240" y="356616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column-level lineage from Unity Catalog. Impact analysis for schema changes.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0" y="4041648"/>
            <a:ext cx="5120640" cy="9144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4187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Classification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92240" y="448056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PII/PHI/PCI tagging via Unity Catalog tags. Automated classification with ML.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0" y="4956048"/>
            <a:ext cx="5120640" cy="9144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36" name="Text 34"/>
          <p:cNvSpPr/>
          <p:nvPr/>
        </p:nvSpPr>
        <p:spPr>
          <a:xfrm>
            <a:off x="6492240" y="51023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Frameworks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92240" y="539496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II · HIPAA · GDPR · PCI DSS · FedRAMP ready configurations.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61B27"/>
          </a:solidFill>
          <a:ln/>
        </p:spPr>
      </p:sp>
      <p:sp>
        <p:nvSpPr>
          <p:cNvPr id="39" name="Text 37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+ AWS Data Lakehouse · Architecture Reference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Deployment, CI/CD &amp; Infrastructure as Code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4572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60120"/>
            <a:ext cx="1737360" cy="2286000"/>
          </a:xfrm>
          <a:prstGeom prst="rect">
            <a:avLst/>
          </a:prstGeom>
          <a:solidFill>
            <a:srgbClr val="161B27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1737360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960120"/>
            <a:ext cx="1353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Commit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1554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pushes to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/ GitLab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03120" y="178308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67712" y="960120"/>
            <a:ext cx="1737360" cy="2286000"/>
          </a:xfrm>
          <a:prstGeom prst="rect">
            <a:avLst/>
          </a:prstGeom>
          <a:solidFill>
            <a:srgbClr val="161B27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67712" y="960120"/>
            <a:ext cx="1737360" cy="38404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2267712" y="960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51760" y="960120"/>
            <a:ext cx="1353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59152" y="1417320"/>
            <a:ext cx="1554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runs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linting, unit tests,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validation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005072" y="178308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69664" y="960120"/>
            <a:ext cx="1737360" cy="2286000"/>
          </a:xfrm>
          <a:prstGeom prst="rect">
            <a:avLst/>
          </a:prstGeom>
          <a:solidFill>
            <a:srgbClr val="161B27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69664" y="960120"/>
            <a:ext cx="1737360" cy="3840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4169664" y="960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53712" y="960120"/>
            <a:ext cx="1353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Plan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61104" y="1417320"/>
            <a:ext cx="1554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previews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+ Databricks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changes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07024" y="178308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71616" y="960120"/>
            <a:ext cx="1737360" cy="2286000"/>
          </a:xfrm>
          <a:prstGeom prst="rect">
            <a:avLst/>
          </a:prstGeom>
          <a:solidFill>
            <a:srgbClr val="161B27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71616" y="960120"/>
            <a:ext cx="173736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6071616" y="960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55664" y="960120"/>
            <a:ext cx="1353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Bundles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63056" y="1417320"/>
            <a:ext cx="1554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Asset Bundles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notebooks, jobs,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DLT pipelines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808976" y="178308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73568" y="960120"/>
            <a:ext cx="1737360" cy="2286000"/>
          </a:xfrm>
          <a:prstGeom prst="rect">
            <a:avLst/>
          </a:prstGeom>
          <a:solidFill>
            <a:srgbClr val="161B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73568" y="960120"/>
            <a:ext cx="173736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7973568" y="960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57616" y="960120"/>
            <a:ext cx="1353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65008" y="1417320"/>
            <a:ext cx="1554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 run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dev environment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sampled data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710928" y="178308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875520" y="960120"/>
            <a:ext cx="1737360" cy="2286000"/>
          </a:xfrm>
          <a:prstGeom prst="rect">
            <a:avLst/>
          </a:prstGeom>
          <a:solidFill>
            <a:srgbClr val="161B27"/>
          </a:solidFill>
          <a:ln w="1905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875520" y="960120"/>
            <a:ext cx="1737360" cy="38404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7" name="Text 35"/>
          <p:cNvSpPr/>
          <p:nvPr/>
        </p:nvSpPr>
        <p:spPr>
          <a:xfrm>
            <a:off x="9875520" y="960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259568" y="960120"/>
            <a:ext cx="1353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966960" y="1417320"/>
            <a:ext cx="1554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merge triggers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production deploy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rollback capability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65760" y="3429000"/>
            <a:ext cx="5394960" cy="2240280"/>
          </a:xfrm>
          <a:prstGeom prst="rect">
            <a:avLst/>
          </a:prstGeom>
          <a:solidFill>
            <a:srgbClr val="161B27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3429000"/>
            <a:ext cx="5394960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34290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8640" y="384048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databricks-workspace: VPC, subnets, security groups, workspace creation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databricks-clusters: Cluster policies, instance pools, auto-scaling config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databricks-unity-catalog: Metastore, catalogs, schemas, grants, external locations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s3-data-lake: Buckets, lifecycle rules, encryption, replication, bucket policies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iam-roles: Instance profiles, cross-account roles, service principal policies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17920" y="3429000"/>
            <a:ext cx="5532120" cy="2240280"/>
          </a:xfrm>
          <a:prstGeom prst="rect">
            <a:avLst/>
          </a:prstGeom>
          <a:solidFill>
            <a:srgbClr val="161B27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17920" y="3429000"/>
            <a:ext cx="553212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6" name="Text 44"/>
          <p:cNvSpPr/>
          <p:nvPr/>
        </p:nvSpPr>
        <p:spPr>
          <a:xfrm>
            <a:off x="6217920" y="3429000"/>
            <a:ext cx="5532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Asset Bundles (DAB)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400800" y="3840480"/>
            <a:ext cx="5166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&amp; Python scripts versioned in Git alongside infrastructure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DLT pipeline definitions deployed as code with environment overrides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Workflows DAGs defined in YAML, parameterized per environment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experiment configs and model deployment targets per stage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and environment variables per dev / staging / production target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61B27"/>
          </a:solidFill>
          <a:ln/>
        </p:spPr>
      </p:sp>
      <p:sp>
        <p:nvSpPr>
          <p:cNvPr id="49" name="Text 47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+ AWS Data Lakehouse · Architecture Reference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27432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60120"/>
            <a:ext cx="3703320" cy="2240280"/>
          </a:xfrm>
          <a:prstGeom prst="rect">
            <a:avLst/>
          </a:prstGeom>
          <a:solidFill>
            <a:srgbClr val="161B27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3703320" cy="4389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3703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 Layered Architecture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" y="1472184"/>
            <a:ext cx="3447288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well-defined layers from ingestion to serving. Clear separation of concerns. Independently scalable components.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960120"/>
            <a:ext cx="3703320" cy="2240280"/>
          </a:xfrm>
          <a:prstGeom prst="rect">
            <a:avLst/>
          </a:prstGeom>
          <a:solidFill>
            <a:srgbClr val="161B27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960120"/>
            <a:ext cx="3703320" cy="4389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960120"/>
            <a:ext cx="3703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Cost-Optimized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25696" y="1472184"/>
            <a:ext cx="3447288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Intelligent-Tiering, Spot EC2 instances, serverless SQL, auto-terminating clusters. Pay only for what you use.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960120"/>
            <a:ext cx="3703320" cy="2240280"/>
          </a:xfrm>
          <a:prstGeom prst="rect">
            <a:avLst/>
          </a:prstGeom>
          <a:solidFill>
            <a:srgbClr val="161B27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0" y="960120"/>
            <a:ext cx="3703320" cy="43891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960120"/>
            <a:ext cx="3703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Zero-Trust Security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57616" y="1472184"/>
            <a:ext cx="3447288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isolation, KMS encryption, IAM least-privilege, Unity Catalog RBAC, full audit trail. Enterprise-grade compliance.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337560"/>
            <a:ext cx="3703320" cy="2240280"/>
          </a:xfrm>
          <a:prstGeom prst="rect">
            <a:avLst/>
          </a:prstGeom>
          <a:solidFill>
            <a:srgbClr val="161B27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337560"/>
            <a:ext cx="3703320" cy="43891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337560"/>
            <a:ext cx="3703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Massively Scalable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" y="3849624"/>
            <a:ext cx="3447288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+ Spark scales from gigabytes to petabytes. Auto-scaling clusters. No infrastructure ceiling.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97680" y="3337560"/>
            <a:ext cx="3703320" cy="2240280"/>
          </a:xfrm>
          <a:prstGeom prst="rect">
            <a:avLst/>
          </a:prstGeom>
          <a:solidFill>
            <a:srgbClr val="161B27"/>
          </a:solidFill>
          <a:ln w="1905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97680" y="3337560"/>
            <a:ext cx="3703320" cy="43891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3" name="Text 21"/>
          <p:cNvSpPr/>
          <p:nvPr/>
        </p:nvSpPr>
        <p:spPr>
          <a:xfrm>
            <a:off x="4297680" y="3337560"/>
            <a:ext cx="3703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ML-First Design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25696" y="3849624"/>
            <a:ext cx="3447288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MLflow, AutoML, Feature Store, and Model Serving. First-class support for the full ML lifecycle.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0" y="3337560"/>
            <a:ext cx="3703320" cy="2240280"/>
          </a:xfrm>
          <a:prstGeom prst="rect">
            <a:avLst/>
          </a:prstGeom>
          <a:solidFill>
            <a:srgbClr val="161B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29600" y="3337560"/>
            <a:ext cx="3703320" cy="4389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0" y="3337560"/>
            <a:ext cx="3703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IaC &amp; GitOps Ready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57616" y="3849624"/>
            <a:ext cx="3447288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Terraform + Databricks Asset Bundles. All infrastructure version-controlled. CI/CD from day one.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5870448"/>
            <a:ext cx="11430000" cy="548640"/>
          </a:xfrm>
          <a:prstGeom prst="rect">
            <a:avLst/>
          </a:prstGeom>
          <a:solidFill>
            <a:srgbClr val="161B27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5870448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build? · Start with Terraform modules → Deploy Databricks workspace → Configure Unity Catalog → Build DLT pipelines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61B27"/>
          </a:solidFill>
          <a:ln/>
        </p:spPr>
      </p:sp>
      <p:sp>
        <p:nvSpPr>
          <p:cNvPr id="32" name="Text 30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+ AWS Data Lakehouse · Architecture Reference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Databricks + AWS Data Lakehouse Architecture</dc:title>
  <dc:subject>PptxGenJS Presentation</dc:subject>
  <dc:creator>PptxGenJS</dc:creator>
  <cp:lastModifiedBy>PptxGenJS</cp:lastModifiedBy>
  <cp:revision>1</cp:revision>
  <dcterms:created xsi:type="dcterms:W3CDTF">2026-03-09T02:42:28Z</dcterms:created>
  <dcterms:modified xsi:type="dcterms:W3CDTF">2026-03-09T02:42:28Z</dcterms:modified>
</cp:coreProperties>
</file>